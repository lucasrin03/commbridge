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40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88952" cy="15544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</a:rPr>
              <a:t>CommBridge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02C39A"/>
                </a:solidFill>
              </a:rPr>
              <a:t>Online Communication Practice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834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B0C4DE"/>
                </a:solidFill>
              </a:rPr>
              <a:t>Empowering AAC &amp; AT Users to Practise Real-World Communication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486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SPD Specialised Assistive Technology Centre  |  NUS School Project  |  2026</a:t>
            </a:r>
          </a:p>
        </p:txBody>
      </p:sp>
      <p:sp>
        <p:nvSpPr>
          <p:cNvPr id="8" name="Oval 7"/>
          <p:cNvSpPr/>
          <p:nvPr/>
        </p:nvSpPr>
        <p:spPr>
          <a:xfrm>
            <a:off x="10515600" y="1097280"/>
            <a:ext cx="1371600" cy="13716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155680" y="274320"/>
            <a:ext cx="731520" cy="73152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240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2C39A"/>
                </a:solidFill>
              </a:rPr>
              <a:t>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5029200" cy="6035040"/>
          </a:xfrm>
          <a:prstGeom prst="rect">
            <a:avLst/>
          </a:prstGeom>
          <a:solidFill>
            <a:srgbClr val="F47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FFFFFF"/>
                </a:solidFill>
              </a:rPr>
              <a:t>"Going into the community is challenging —
but skills still need to be practised."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3474720"/>
            <a:ext cx="4480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Many individuals with communication difficulties
have limited opportunities to practise real-world
communication due to: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448056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>
                <a:solidFill>
                  <a:srgbClr val="FFFFFF"/>
                </a:solidFill>
              </a:rPr>
              <a:t>• Safety &amp; supervision concerns</a:t>
            </a:r>
          </a:p>
          <a:p>
            <a:pPr/>
            <a:r>
              <a:rPr sz="1400">
                <a:solidFill>
                  <a:srgbClr val="FFFFFF"/>
                </a:solidFill>
              </a:rPr>
              <a:t>• Time &amp; transport barriers</a:t>
            </a:r>
          </a:p>
          <a:p>
            <a:pPr/>
            <a:r>
              <a:rPr sz="1400">
                <a:solidFill>
                  <a:srgbClr val="FFFFFF"/>
                </a:solidFill>
              </a:rPr>
              <a:t>• Accessibility constraints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5212080" y="822960"/>
            <a:ext cx="6793992" cy="6035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94960" y="100584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2405E"/>
                </a:solidFill>
              </a:rPr>
              <a:t>The Gap We're Addressing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0" y="1737360"/>
            <a:ext cx="6400800" cy="13716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303520" y="1737360"/>
            <a:ext cx="91440" cy="13716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0" y="1783080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2405E"/>
                </a:solidFill>
              </a:rPr>
              <a:t>AAC &amp; AT Users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2148840"/>
            <a:ext cx="6217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</a:rPr>
              <a:t>Rely on devices to communicate but rarely get
repeatable, safe practice in real scenarios.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03520" y="3291839"/>
            <a:ext cx="6400800" cy="13716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303520" y="3291839"/>
            <a:ext cx="91440" cy="13716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0" y="3337559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2405E"/>
                </a:solidFill>
              </a:rPr>
              <a:t>Therapists &amp; Caregivers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3703320"/>
            <a:ext cx="6217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</a:rPr>
              <a:t>Need structured ways to run guided sessions
remotely, without requiring physical presence.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03520" y="4846320"/>
            <a:ext cx="6400800" cy="13716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303520" y="4846320"/>
            <a:ext cx="91440" cy="13716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0" y="4892040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2405E"/>
                </a:solidFill>
              </a:rPr>
              <a:t>The Opportunity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5257800"/>
            <a:ext cx="6217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</a:rPr>
              <a:t>Technology can simulate everyday contexts —
ordering food, asking for help, navigating spaces
— in a safe, flexible, repeatable way.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OUR SOLUTION — CommBridge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6012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1E293B"/>
                </a:solidFill>
              </a:rPr>
              <a:t>A browser-based platform where AAC &amp; AT users connect online to
practise communication in simulated real-world scenarios.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920240"/>
            <a:ext cx="365760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920240"/>
            <a:ext cx="3657600" cy="457200"/>
          </a:xfrm>
          <a:prstGeom prst="rect">
            <a:avLst/>
          </a:prstGeom>
          <a:solidFill>
            <a:srgbClr val="0240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96596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2C39A"/>
                </a:solidFill>
              </a:rPr>
              <a:t>🗣  Role-Play Rooms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423160"/>
            <a:ext cx="34747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Virtual café, shop, clinic &amp; transport
scenarios with guided prompts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1920240"/>
            <a:ext cx="365760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06240" y="1920240"/>
            <a:ext cx="3657600" cy="457200"/>
          </a:xfrm>
          <a:prstGeom prst="rect">
            <a:avLst/>
          </a:prstGeom>
          <a:solidFill>
            <a:srgbClr val="0240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79" y="196596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2C39A"/>
                </a:solidFill>
              </a:rPr>
              <a:t>👥  Guided Sessions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79" y="2423160"/>
            <a:ext cx="34747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Therapist/caregiver can join, observe
and provide real-time support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920240"/>
            <a:ext cx="365760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920240"/>
            <a:ext cx="3657600" cy="457200"/>
          </a:xfrm>
          <a:prstGeom prst="rect">
            <a:avLst/>
          </a:prstGeom>
          <a:solidFill>
            <a:srgbClr val="0240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96596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2C39A"/>
                </a:solidFill>
              </a:rPr>
              <a:t>🤝  Peer-to-Peer Chat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423160"/>
            <a:ext cx="34747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AAC users connect directly using
their own devices/symbols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023360"/>
            <a:ext cx="365760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4023360"/>
            <a:ext cx="3657600" cy="457200"/>
          </a:xfrm>
          <a:prstGeom prst="rect">
            <a:avLst/>
          </a:prstGeom>
          <a:solidFill>
            <a:srgbClr val="0240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406908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2C39A"/>
                </a:solidFill>
              </a:rPr>
              <a:t>📈  Adaptive Difficulty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526280"/>
            <a:ext cx="34747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Platform adjusts complexity
based on user progress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06240" y="4023360"/>
            <a:ext cx="365760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06240" y="4023360"/>
            <a:ext cx="3657600" cy="457200"/>
          </a:xfrm>
          <a:prstGeom prst="rect">
            <a:avLst/>
          </a:prstGeom>
          <a:solidFill>
            <a:srgbClr val="0240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97679" y="406908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2C39A"/>
                </a:solidFill>
              </a:rPr>
              <a:t>🎯  Skill Transfer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4526280"/>
            <a:ext cx="34747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Structured reflection to bridge
digital practice to real life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60" y="4023360"/>
            <a:ext cx="365760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38160" y="4023360"/>
            <a:ext cx="3657600" cy="457200"/>
          </a:xfrm>
          <a:prstGeom prst="rect">
            <a:avLst/>
          </a:prstGeom>
          <a:solidFill>
            <a:srgbClr val="0240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0" y="406908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2C39A"/>
                </a:solidFill>
              </a:rPr>
              <a:t>♿  Accessible Design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4526280"/>
            <a:ext cx="34747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Switch access, eye-gaze, touch,
and symbol-board compatible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40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2405E"/>
                </a:solidFill>
              </a:rPr>
              <a:t>WHO USES COMMBRIDGE?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B0C4DE"/>
                </a:solidFill>
              </a:rPr>
              <a:t>Designed for all ages — children and adults — across multiple user roles.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554480"/>
            <a:ext cx="3657600" cy="50292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554480"/>
            <a:ext cx="3657600" cy="640080"/>
          </a:xfrm>
          <a:prstGeom prst="rect">
            <a:avLst/>
          </a:prstGeom>
          <a:solidFill>
            <a:srgbClr val="F47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6002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2405E"/>
                </a:solidFill>
              </a:rPr>
              <a:t>AAC Users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2402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47B20"/>
                </a:solidFill>
              </a:rPr>
              <a:t>Children &amp; Adults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60604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>
                <a:solidFill>
                  <a:srgbClr val="FFFFFF"/>
                </a:solidFill>
              </a:rPr>
              <a:t>• Use their own AAC devices or apps</a:t>
            </a:r>
          </a:p>
          <a:p>
            <a:pPr/>
            <a:r>
              <a:rPr sz="1300">
                <a:solidFill>
                  <a:srgbClr val="FFFFFF"/>
                </a:solidFill>
              </a:rPr>
              <a:t>• Practice in role-play or peer sessions</a:t>
            </a:r>
          </a:p>
          <a:p>
            <a:pPr/>
            <a:r>
              <a:rPr sz="1300">
                <a:solidFill>
                  <a:srgbClr val="FFFFFF"/>
                </a:solidFill>
              </a:rPr>
              <a:t>• Build confidence and independence</a:t>
            </a:r>
          </a:p>
          <a:p>
            <a:pPr/>
            <a:r>
              <a:rPr sz="1300">
                <a:solidFill>
                  <a:srgbClr val="FFFFFF"/>
                </a:solidFill>
              </a:rPr>
              <a:t>• Works with switch, touch, eye-gaze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59" y="1554480"/>
            <a:ext cx="3657600" cy="50292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59" y="1554480"/>
            <a:ext cx="3657600" cy="6400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399" y="16002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2405E"/>
                </a:solidFill>
              </a:rPr>
              <a:t>Therapists &amp; 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399" y="22402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28090"/>
                </a:solidFill>
              </a:rPr>
              <a:t>Speech-Language Therapists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399" y="260604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>
                <a:solidFill>
                  <a:srgbClr val="FFFFFF"/>
                </a:solidFill>
              </a:rPr>
              <a:t>• Host and monitor guided sessions</a:t>
            </a:r>
          </a:p>
          <a:p>
            <a:pPr/>
            <a:r>
              <a:rPr sz="1300">
                <a:solidFill>
                  <a:srgbClr val="FFFFFF"/>
                </a:solidFill>
              </a:rPr>
              <a:t>• Set scenario difficulty and goals</a:t>
            </a:r>
          </a:p>
          <a:p>
            <a:pPr/>
            <a:r>
              <a:rPr sz="1300">
                <a:solidFill>
                  <a:srgbClr val="FFFFFF"/>
                </a:solidFill>
              </a:rPr>
              <a:t>• View session logs and progress</a:t>
            </a:r>
          </a:p>
          <a:p>
            <a:pPr/>
            <a:r>
              <a:rPr sz="1300">
                <a:solidFill>
                  <a:srgbClr val="FFFFFF"/>
                </a:solidFill>
              </a:rPr>
              <a:t>• Provide live prompts and feedback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554480"/>
            <a:ext cx="3657600" cy="50292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1554480"/>
            <a:ext cx="3657600" cy="64008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6002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2405E"/>
                </a:solidFill>
              </a:rPr>
              <a:t>Caregivers &amp; Family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2402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2C39A"/>
                </a:solidFill>
              </a:rPr>
              <a:t>Parents, Teachers, Support Staff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60604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>
                <a:solidFill>
                  <a:srgbClr val="FFFFFF"/>
                </a:solidFill>
              </a:rPr>
              <a:t>• Join sessions as communication partners</a:t>
            </a:r>
          </a:p>
          <a:p>
            <a:pPr/>
            <a:r>
              <a:rPr sz="1300">
                <a:solidFill>
                  <a:srgbClr val="FFFFFF"/>
                </a:solidFill>
              </a:rPr>
              <a:t>• Reinforce skills practiced in therapy</a:t>
            </a:r>
          </a:p>
          <a:p>
            <a:pPr/>
            <a:r>
              <a:rPr sz="1300">
                <a:solidFill>
                  <a:srgbClr val="FFFFFF"/>
                </a:solidFill>
              </a:rPr>
              <a:t>• Run informal practice at home</a:t>
            </a:r>
          </a:p>
          <a:p>
            <a:pPr/>
            <a:r>
              <a:rPr sz="1300">
                <a:solidFill>
                  <a:srgbClr val="FFFFFF"/>
                </a:solidFill>
              </a:rPr>
              <a:t>• Access caregiver training resources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240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2C39A"/>
                </a:solidFill>
              </a:rPr>
              <a:t>PLATFORM FEATURES — How It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14400"/>
            <a:ext cx="5303520" cy="5669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5303520" cy="5029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9601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Scenario Library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5087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2405E"/>
                </a:solidFill>
              </a:rPr>
              <a:t>🍜 Ordering Food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7830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Navigate a hawker centre or restaurant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16712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2405E"/>
                </a:solidFill>
              </a:rPr>
              <a:t>🛒 Grocery Shopping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44144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Make requests, ask for help locating items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82549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2405E"/>
                </a:solidFill>
              </a:rPr>
              <a:t>🚌 Public Transport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3099815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Ask for directions, buy tickets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3483863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2405E"/>
                </a:solidFill>
              </a:rPr>
              <a:t>🏥 Clinic Visit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3758183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Describe symptoms, ask questions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4142231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2405E"/>
                </a:solidFill>
              </a:rPr>
              <a:t>👋 Social Greetings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4416551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Start conversations, make friends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4800599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2405E"/>
                </a:solidFill>
              </a:rPr>
              <a:t>🆘 Asking for Help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5074919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Emergency and everyday help-seeking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0" y="914400"/>
            <a:ext cx="5943600" cy="2651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43600" y="914400"/>
            <a:ext cx="5943600" cy="502920"/>
          </a:xfrm>
          <a:prstGeom prst="rect">
            <a:avLst/>
          </a:prstGeom>
          <a:solidFill>
            <a:srgbClr val="F47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80760" y="96012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Interaction Modes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0760" y="1508760"/>
            <a:ext cx="56692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>
                <a:solidFill>
                  <a:srgbClr val="1E293B"/>
                </a:solidFill>
              </a:rPr>
              <a:t>• 1:1 peer chat with AAC users</a:t>
            </a:r>
          </a:p>
          <a:p>
            <a:pPr/>
            <a:r>
              <a:rPr sz="1300">
                <a:solidFill>
                  <a:srgbClr val="1E293B"/>
                </a:solidFill>
              </a:rPr>
              <a:t>• Therapist-led group session (up to 6)</a:t>
            </a:r>
          </a:p>
          <a:p>
            <a:pPr/>
            <a:r>
              <a:rPr sz="1300">
                <a:solidFill>
                  <a:srgbClr val="1E293B"/>
                </a:solidFill>
              </a:rPr>
              <a:t>• Solo practice with AI conversation partner</a:t>
            </a:r>
          </a:p>
          <a:p>
            <a:pPr/>
            <a:r>
              <a:rPr sz="1300">
                <a:solidFill>
                  <a:srgbClr val="1E293B"/>
                </a:solidFill>
              </a:rPr>
              <a:t>• Family-joined home practice mode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0" y="3749039"/>
            <a:ext cx="5943600" cy="2834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43600" y="3749039"/>
            <a:ext cx="5943600" cy="5029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80760" y="379476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2405E"/>
                </a:solidFill>
              </a:rPr>
              <a:t>Accessibility Features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80760" y="4343400"/>
            <a:ext cx="56692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>
                <a:solidFill>
                  <a:srgbClr val="1E293B"/>
                </a:solidFill>
              </a:rPr>
              <a:t>• Switch-access &amp; scanning navigation</a:t>
            </a:r>
          </a:p>
          <a:p>
            <a:pPr/>
            <a:r>
              <a:rPr sz="1300">
                <a:solidFill>
                  <a:srgbClr val="1E293B"/>
                </a:solidFill>
              </a:rPr>
              <a:t>• Symbol-board integration (AAC compatible)</a:t>
            </a:r>
          </a:p>
          <a:p>
            <a:pPr/>
            <a:r>
              <a:rPr sz="1300">
                <a:solidFill>
                  <a:srgbClr val="1E293B"/>
                </a:solidFill>
              </a:rPr>
              <a:t>• Large-text &amp; high-contrast modes</a:t>
            </a:r>
          </a:p>
          <a:p>
            <a:pPr/>
            <a:r>
              <a:rPr sz="1300">
                <a:solidFill>
                  <a:srgbClr val="1E293B"/>
                </a:solidFill>
              </a:rPr>
              <a:t>• Audio cues and text-to-speech support</a:t>
            </a:r>
          </a:p>
          <a:p>
            <a:pPr/>
            <a:r>
              <a:rPr sz="1300">
                <a:solidFill>
                  <a:srgbClr val="1E293B"/>
                </a:solidFill>
              </a:rPr>
              <a:t>• Adjustable timing for responses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TECHNICAL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11640312" cy="1691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005840"/>
            <a:ext cx="164592" cy="1691640"/>
          </a:xfrm>
          <a:prstGeom prst="rect">
            <a:avLst/>
          </a:prstGeom>
          <a:solidFill>
            <a:srgbClr val="0240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0972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2405E"/>
                </a:solidFill>
              </a:rPr>
              <a:t>FRONTEND (Client Layer)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50876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>
                <a:solidFill>
                  <a:srgbClr val="1E293B"/>
                </a:solidFill>
              </a:rPr>
              <a:t>• React.js + Next.js web app</a:t>
            </a:r>
          </a:p>
          <a:p>
            <a:pPr/>
            <a:r>
              <a:rPr sz="1200">
                <a:solidFill>
                  <a:srgbClr val="1E293B"/>
                </a:solidFill>
              </a:rPr>
              <a:t>• AAC symbol board component</a:t>
            </a:r>
          </a:p>
          <a:p>
            <a:pPr/>
            <a:r>
              <a:rPr sz="1200">
                <a:solidFill>
                  <a:srgbClr val="1E293B"/>
                </a:solidFill>
              </a:rPr>
              <a:t>• WebRTC video/audio (optional)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508760"/>
            <a:ext cx="5943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>
                <a:solidFill>
                  <a:srgbClr val="1E293B"/>
                </a:solidFill>
              </a:rPr>
              <a:t>• Socket.io for real-time chat</a:t>
            </a:r>
          </a:p>
          <a:p>
            <a:pPr/>
            <a:r>
              <a:rPr sz="1200">
                <a:solidFill>
                  <a:srgbClr val="1E293B"/>
                </a:solidFill>
              </a:rPr>
              <a:t>• Accessible UI (WCAG 2.1 AA)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834640"/>
            <a:ext cx="11640312" cy="1691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834640"/>
            <a:ext cx="164592" cy="16916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9260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28090"/>
                </a:solidFill>
              </a:rPr>
              <a:t>BACKEND (Application Layer)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33756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>
                <a:solidFill>
                  <a:srgbClr val="1E293B"/>
                </a:solidFill>
              </a:rPr>
              <a:t>• Node.js + Express API server</a:t>
            </a:r>
          </a:p>
          <a:p>
            <a:pPr/>
            <a:r>
              <a:rPr sz="1200">
                <a:solidFill>
                  <a:srgbClr val="1E293B"/>
                </a:solidFill>
              </a:rPr>
              <a:t>• Socket.io server for live sessions</a:t>
            </a:r>
          </a:p>
          <a:p>
            <a:pPr/>
            <a:r>
              <a:rPr sz="1200">
                <a:solidFill>
                  <a:srgbClr val="1E293B"/>
                </a:solidFill>
              </a:rPr>
              <a:t>• Session &amp; scenario management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3337560"/>
            <a:ext cx="5943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>
                <a:solidFill>
                  <a:srgbClr val="1E293B"/>
                </a:solidFill>
              </a:rPr>
              <a:t>• AI conversation engine (Claude API)</a:t>
            </a:r>
          </a:p>
          <a:p>
            <a:pPr/>
            <a:r>
              <a:rPr sz="1200">
                <a:solidFill>
                  <a:srgbClr val="1E293B"/>
                </a:solidFill>
              </a:rPr>
              <a:t>• User progress &amp; analytics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4663440"/>
            <a:ext cx="11640312" cy="1691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4663440"/>
            <a:ext cx="164592" cy="169164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4754879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2C39A"/>
                </a:solidFill>
              </a:rPr>
              <a:t>DATA LAYER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166359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>
                <a:solidFill>
                  <a:srgbClr val="1E293B"/>
                </a:solidFill>
              </a:rPr>
              <a:t>• PostgreSQL — user &amp; session data</a:t>
            </a:r>
          </a:p>
          <a:p>
            <a:pPr/>
            <a:r>
              <a:rPr sz="1200">
                <a:solidFill>
                  <a:srgbClr val="1E293B"/>
                </a:solidFill>
              </a:rPr>
              <a:t>• Redis — real-time session state</a:t>
            </a:r>
          </a:p>
          <a:p>
            <a:pPr/>
            <a:r>
              <a:rPr sz="1200">
                <a:solidFill>
                  <a:srgbClr val="1E293B"/>
                </a:solidFill>
              </a:rPr>
              <a:t>• AWS S3 — symbol/media assets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5166359"/>
            <a:ext cx="5943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>
                <a:solidFill>
                  <a:srgbClr val="1E293B"/>
                </a:solidFill>
              </a:rPr>
              <a:t>• Auth: JWT + role-based access</a:t>
            </a:r>
          </a:p>
          <a:p>
            <a:pPr/>
            <a:r>
              <a:rPr sz="1200">
                <a:solidFill>
                  <a:srgbClr val="1E293B"/>
                </a:solidFill>
              </a:rPr>
              <a:t>• PDPA-compliant data handling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649224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4748B"/>
                </a:solidFill>
              </a:rPr>
              <a:t>Hosted on AWS / Render  •  Mobile-responsive  •  Open-source symbol libraries (ARASAAC)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40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F47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PROJECT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2743200" cy="5577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005840"/>
            <a:ext cx="2743200" cy="54864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2412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405E"/>
                </a:solidFill>
              </a:rPr>
              <a:t>Week 1–2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6002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2C39A"/>
                </a:solidFill>
              </a:rPr>
              <a:t>Discovery &amp;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148840"/>
            <a:ext cx="2560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>
                <a:solidFill>
                  <a:srgbClr val="FFFFFF"/>
                </a:solidFill>
              </a:rPr>
              <a:t>• User interviews with AAC users &amp; STs</a:t>
            </a:r>
          </a:p>
          <a:p>
            <a:pPr/>
            <a:r>
              <a:rPr sz="1200">
                <a:solidFill>
                  <a:srgbClr val="FFFFFF"/>
                </a:solidFill>
              </a:rPr>
              <a:t>• Define core scenarios</a:t>
            </a:r>
          </a:p>
          <a:p>
            <a:pPr/>
            <a:r>
              <a:rPr sz="1200">
                <a:solidFill>
                  <a:srgbClr val="FFFFFF"/>
                </a:solidFill>
              </a:rPr>
              <a:t>• Wireframes &amp; prototyping</a:t>
            </a:r>
          </a:p>
          <a:p>
            <a:pPr/>
            <a:r>
              <a:rPr sz="1200">
                <a:solidFill>
                  <a:srgbClr val="FFFFFF"/>
                </a:solidFill>
              </a:rPr>
              <a:t>• Accessibility audit plan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6120" y="1005840"/>
            <a:ext cx="2743200" cy="5577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46120" y="1005840"/>
            <a:ext cx="2743200" cy="5486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02412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405E"/>
                </a:solidFill>
              </a:rPr>
              <a:t>Week 3–4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6002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28090"/>
                </a:solidFill>
              </a:rPr>
              <a:t>Core Development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2148840"/>
            <a:ext cx="2560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>
                <a:solidFill>
                  <a:srgbClr val="FFFFFF"/>
                </a:solidFill>
              </a:rPr>
              <a:t>• Build real-time chat with Socket.io</a:t>
            </a:r>
          </a:p>
          <a:p>
            <a:pPr/>
            <a:r>
              <a:rPr sz="1200">
                <a:solidFill>
                  <a:srgbClr val="FFFFFF"/>
                </a:solidFill>
              </a:rPr>
              <a:t>• Symbol board component</a:t>
            </a:r>
          </a:p>
          <a:p>
            <a:pPr/>
            <a:r>
              <a:rPr sz="1200">
                <a:solidFill>
                  <a:srgbClr val="FFFFFF"/>
                </a:solidFill>
              </a:rPr>
              <a:t>• Role-play scenario engine</a:t>
            </a:r>
          </a:p>
          <a:p>
            <a:pPr/>
            <a:r>
              <a:rPr sz="1200">
                <a:solidFill>
                  <a:srgbClr val="FFFFFF"/>
                </a:solidFill>
              </a:rPr>
              <a:t>• Basic session management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005840"/>
            <a:ext cx="2743200" cy="5577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005840"/>
            <a:ext cx="2743200" cy="548640"/>
          </a:xfrm>
          <a:prstGeom prst="rect">
            <a:avLst/>
          </a:prstGeom>
          <a:solidFill>
            <a:srgbClr val="F47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59" y="102412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405E"/>
                </a:solidFill>
              </a:rPr>
              <a:t>Week 5–6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59" y="16002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47B20"/>
                </a:solidFill>
              </a:rPr>
              <a:t>Testing &amp; Iteration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59" y="2148840"/>
            <a:ext cx="2560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>
                <a:solidFill>
                  <a:srgbClr val="FFFFFF"/>
                </a:solidFill>
              </a:rPr>
              <a:t>• User testing with SPD clients</a:t>
            </a:r>
          </a:p>
          <a:p>
            <a:pPr/>
            <a:r>
              <a:rPr sz="1200">
                <a:solidFill>
                  <a:srgbClr val="FFFFFF"/>
                </a:solidFill>
              </a:rPr>
              <a:t>• Therapist-guided session trials</a:t>
            </a:r>
          </a:p>
          <a:p>
            <a:pPr/>
            <a:r>
              <a:rPr sz="1200">
                <a:solidFill>
                  <a:srgbClr val="FFFFFF"/>
                </a:solidFill>
              </a:rPr>
              <a:t>• Accessibility testing</a:t>
            </a:r>
          </a:p>
          <a:p>
            <a:pPr/>
            <a:r>
              <a:rPr sz="1200">
                <a:solidFill>
                  <a:srgbClr val="FFFFFF"/>
                </a:solidFill>
              </a:rPr>
              <a:t>• Bug fixes &amp; improvements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89720" y="1005840"/>
            <a:ext cx="2743200" cy="5577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89720" y="1005840"/>
            <a:ext cx="27432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81160" y="102412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405E"/>
                </a:solidFill>
              </a:rPr>
              <a:t>Week 7+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60" y="16002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Pilot &amp; Handover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1160" y="2148840"/>
            <a:ext cx="2560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>
                <a:solidFill>
                  <a:srgbClr val="FFFFFF"/>
                </a:solidFill>
              </a:rPr>
              <a:t>• Pilot with SATC therapists</a:t>
            </a:r>
          </a:p>
          <a:p>
            <a:pPr/>
            <a:r>
              <a:rPr sz="1200">
                <a:solidFill>
                  <a:srgbClr val="FFFFFF"/>
                </a:solidFill>
              </a:rPr>
              <a:t>• Documentation &amp; training guide</a:t>
            </a:r>
          </a:p>
          <a:p>
            <a:pPr/>
            <a:r>
              <a:rPr sz="1200">
                <a:solidFill>
                  <a:srgbClr val="FFFFFF"/>
                </a:solidFill>
              </a:rPr>
              <a:t>• Present findings to SPD</a:t>
            </a:r>
          </a:p>
          <a:p>
            <a:pPr/>
            <a:r>
              <a:rPr sz="1200">
                <a:solidFill>
                  <a:srgbClr val="FFFFFF"/>
                </a:solidFill>
              </a:rPr>
              <a:t>• Future roadmap recommendations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40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47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0"/>
            <a:ext cx="12188952" cy="9144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</a:rPr>
              <a:t>CommBridge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1">
                <a:solidFill>
                  <a:srgbClr val="02C39A"/>
                </a:solidFill>
              </a:rPr>
              <a:t>Bridging the gap between therapy and everyday life.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B0C4DE"/>
                </a:solidFill>
              </a:rPr>
              <a:t>Every conversation is a step toward independence.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474720"/>
            <a:ext cx="8229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600">
                <a:solidFill>
                  <a:srgbClr val="FFFFFF"/>
                </a:solidFill>
              </a:rPr>
              <a:t>• Safe, repeatable practice in realistic scenarios</a:t>
            </a:r>
          </a:p>
          <a:p>
            <a:pPr/>
            <a:r>
              <a:rPr sz="1600">
                <a:solidFill>
                  <a:srgbClr val="FFFFFF"/>
                </a:solidFill>
              </a:rPr>
              <a:t>• Inclusive for all AAC &amp; AT users across ages</a:t>
            </a:r>
          </a:p>
          <a:p>
            <a:pPr/>
            <a:r>
              <a:rPr sz="1600">
                <a:solidFill>
                  <a:srgbClr val="FFFFFF"/>
                </a:solidFill>
              </a:rPr>
              <a:t>• Supports therapists, caregivers, and peers</a:t>
            </a:r>
          </a:p>
          <a:p>
            <a:pPr/>
            <a:r>
              <a:rPr sz="1600">
                <a:solidFill>
                  <a:srgbClr val="FFFFFF"/>
                </a:solidFill>
              </a:rPr>
              <a:t>• Designed for real skill transfer to daily life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0350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Built for SPD SATC  •  NUS School Project  •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